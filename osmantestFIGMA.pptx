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2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4EDA2-5281-1C4F-D77E-5E81EC739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0743F6-DF8F-5A40-120E-BF08AC2F9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74EDC5-15D4-DB6C-A460-163D663E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639F2E-0EED-2027-4C05-54344678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C20656-3B7E-64BF-67A5-9402A3B6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48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28105-9CFC-A41A-8316-948689B6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D156A2-6AEA-75EA-6669-BCF3D5319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1595D4-6C33-D052-D58E-EF45E7E2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C02D20-B161-FE83-2D07-F67B4892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90B580-D7D6-2001-BEA0-ED3B7F41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49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7E386-1E42-73DD-D421-4E403904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179F66-469E-90FD-06C3-AD4728788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EEE3AA-202C-36F4-0979-B96B6607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D6A59-9843-1E52-3F74-FD553EF7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C81462-63A0-1CE1-05D3-A908185D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74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AA620-714D-96C5-2B39-E4D51EAC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7CF30E-789C-7FB4-ECE5-73F8941E4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3B9116-6455-0E4A-ED45-43CD9539C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4C3FB3-F963-129A-56ED-1BFA1B35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BA1AAC-D2ED-DC12-16F2-6FB2E376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F052FE-4AC0-C27C-DE65-6C719BC6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71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72B45-465D-ED5F-9A48-449F3EE89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248B5C-128C-B8FE-0281-97ADBC712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F9E349F-43E1-63ED-503B-7EB9B5AA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626BE1-1F28-36C1-7B7C-AECC42D93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01B2F5B-B00B-84CA-9DD0-D1705589F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75C5675-31DD-8649-8360-51B2085F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791347-927A-4125-AD0F-447D94A8A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CFCD2F-BE2D-DB3F-7200-88B7B81F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88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6DA32-B8F6-B708-EFDA-117439A2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E1DF38-BA62-9478-4AF7-347784AC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BDB62FE-FAB3-68D1-92C4-E72C244A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E23EE6-6B46-8A2A-10BC-F23B8321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706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9779B92-E58F-BDA7-374E-D951D4B9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19F89D0-1E16-EA09-7E17-85C5EB87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D9C1D0-3ECF-FC40-4164-97FA069D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9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EAD87-BD34-AD58-A3A0-E83AE63CD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41FB09-E981-A1A4-9434-700812D32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451D8F-B47D-805E-24A5-303D3790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2AAD57-C4A0-AAB9-AF63-E4F74471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472BD0-617D-18BE-4F2C-D06F068E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97142F-0F82-87A2-382C-A1A8494C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9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323B1-01F6-ED6D-1728-B97987F6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CF8656A-997D-5C45-F57A-1549E544E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CB954-CB61-8AAF-7C91-6EE95E1A9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EA2239-31A5-1D84-3C02-77A38C32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D62CC9-A597-5D14-7CE3-8255F445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CB4898-63C3-B144-CEE1-9120AD61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0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54726-81A7-4D0A-3BC8-CF00C8B3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00376B-B07E-BC04-BF97-5FB033AE6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3FED2-E408-A239-C8A5-5C62C0E4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5FEF53-9DCA-96CE-F392-031EFFD0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EEDE53-06D6-3D54-A65B-45C5F988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81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E28F1A-895C-1864-D12E-E83EB2E81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3B71B5-4BF5-31CF-0D2E-2F3B1D78A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E9F0F-D4A9-D505-05B9-D30113A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D8F2B0-FE5F-EC77-9102-FB470AB22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0C8B86-3C7F-ED5D-BCC0-8B3AB039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19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FEAB2-C1DD-3453-8542-A0B601761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ADB133-6F23-9440-BE2B-FED55D138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626200-CAE0-EE23-E7A4-57C72F412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33CBC-AA2A-4520-A50A-2E6FFECAED70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763128-F0D2-137B-9A38-947E29B35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360AE7-1AC7-F064-88AE-782F93B0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65268-88BB-4D64-8C17-FA109C63A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57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720F0-37D6-6E2B-823B-9AC647A9C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Отчёт по ручному тестированию веб-приложения </a:t>
            </a:r>
            <a:r>
              <a:rPr lang="ru-RU" b="1" dirty="0" err="1"/>
              <a:t>Figma</a:t>
            </a: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F0F894-E254-A641-33E1-053834B1F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OSMAN </a:t>
            </a:r>
            <a:r>
              <a:rPr lang="ru-RU" dirty="0" smtClean="0"/>
              <a:t>ЯХАШ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4421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75773" y="649705"/>
            <a:ext cx="10814384" cy="5268579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Отчёт по ручному тестированию веб-приложения </a:t>
            </a:r>
            <a:r>
              <a:rPr lang="ru-RU" b="1" dirty="0" err="1"/>
              <a:t>Figma</a:t>
            </a:r>
            <a:endParaRPr lang="ru-RU" b="1" dirty="0"/>
          </a:p>
          <a:p>
            <a:r>
              <a:rPr lang="ru-RU" b="1" dirty="0"/>
              <a:t>Заголовок</a:t>
            </a:r>
          </a:p>
          <a:p>
            <a:r>
              <a:rPr lang="ru-RU" b="1" dirty="0"/>
              <a:t>Название проекта:</a:t>
            </a:r>
            <a:r>
              <a:rPr lang="ru-RU" dirty="0"/>
              <a:t> </a:t>
            </a:r>
            <a:r>
              <a:rPr lang="ru-RU" dirty="0" err="1"/>
              <a:t>Figma</a:t>
            </a:r>
            <a:r>
              <a:rPr lang="ru-RU" dirty="0"/>
              <a:t> (веб-версия, figma.com)</a:t>
            </a:r>
          </a:p>
          <a:p>
            <a:r>
              <a:rPr lang="ru-RU" b="1" dirty="0"/>
              <a:t>Версия продукта:</a:t>
            </a:r>
            <a:r>
              <a:rPr lang="ru-RU" dirty="0"/>
              <a:t> v124.0.3 (</a:t>
            </a:r>
            <a:r>
              <a:rPr lang="ru-RU" dirty="0" err="1"/>
              <a:t>build</a:t>
            </a:r>
            <a:r>
              <a:rPr lang="ru-RU" dirty="0"/>
              <a:t> 20260910)</a:t>
            </a:r>
          </a:p>
          <a:p>
            <a:r>
              <a:rPr lang="ru-RU" b="1" dirty="0"/>
              <a:t>Период тестирования:</a:t>
            </a:r>
            <a:r>
              <a:rPr lang="ru-RU" dirty="0"/>
              <a:t> 07.09.2026 – 17.09.2026</a:t>
            </a:r>
          </a:p>
          <a:p>
            <a:r>
              <a:rPr lang="ru-RU" b="1" dirty="0"/>
              <a:t>Дата отчёта:</a:t>
            </a:r>
            <a:r>
              <a:rPr lang="ru-RU" dirty="0"/>
              <a:t> 18.09.2026</a:t>
            </a:r>
          </a:p>
          <a:p>
            <a:r>
              <a:rPr lang="ru-RU" b="1" dirty="0"/>
              <a:t>Автор отчёта:</a:t>
            </a:r>
            <a:r>
              <a:rPr lang="ru-RU" dirty="0"/>
              <a:t> Петров А. А., QA-инженер (ручное тестирование)</a:t>
            </a:r>
          </a:p>
          <a:p>
            <a:r>
              <a:rPr lang="ru-RU" b="1" dirty="0"/>
              <a:t>Введение</a:t>
            </a:r>
          </a:p>
          <a:p>
            <a:r>
              <a:rPr lang="ru-RU" dirty="0"/>
              <a:t>Целью данного тестирования было проверить функциональность, стабильность, совместимость и безопасность веб-приложения </a:t>
            </a:r>
            <a:r>
              <a:rPr lang="ru-RU" dirty="0" err="1"/>
              <a:t>Figma</a:t>
            </a:r>
            <a:r>
              <a:rPr lang="ru-RU" dirty="0"/>
              <a:t> на разных браузерах, устройствах и разрешениях экрана. Область покрытия: модули «Авторизация», «Редактор файлов», «Комментарии и доступ», «Экспорт», «Интерфейс и отображение». Тестирование проводилось с использованием следующих инструментов и ресурсов:</a:t>
            </a:r>
          </a:p>
          <a:p>
            <a:r>
              <a:rPr lang="ru-RU" b="1" dirty="0"/>
              <a:t>Браузеры:</a:t>
            </a:r>
            <a:r>
              <a:rPr lang="ru-RU" dirty="0"/>
              <a:t> </a:t>
            </a:r>
            <a:r>
              <a:rPr lang="ru-RU" dirty="0" err="1"/>
              <a:t>Google</a:t>
            </a:r>
            <a:r>
              <a:rPr lang="ru-RU" dirty="0"/>
              <a:t> </a:t>
            </a:r>
            <a:r>
              <a:rPr lang="ru-RU" dirty="0" err="1"/>
              <a:t>Chrome</a:t>
            </a:r>
            <a:r>
              <a:rPr lang="ru-RU" dirty="0"/>
              <a:t>, </a:t>
            </a:r>
            <a:r>
              <a:rPr lang="ru-RU" dirty="0" err="1"/>
              <a:t>Mozilla</a:t>
            </a:r>
            <a:r>
              <a:rPr lang="ru-RU" dirty="0"/>
              <a:t> </a:t>
            </a:r>
            <a:r>
              <a:rPr lang="ru-RU" dirty="0" err="1"/>
              <a:t>Firefox</a:t>
            </a:r>
            <a:r>
              <a:rPr lang="ru-RU" dirty="0"/>
              <a:t>, </a:t>
            </a:r>
            <a:r>
              <a:rPr lang="ru-RU" dirty="0" err="1"/>
              <a:t>Microsoft</a:t>
            </a:r>
            <a:r>
              <a:rPr lang="ru-RU" dirty="0"/>
              <a:t> </a:t>
            </a:r>
            <a:r>
              <a:rPr lang="ru-RU" dirty="0" err="1"/>
              <a:t>Edge</a:t>
            </a:r>
            <a:r>
              <a:rPr lang="ru-RU" dirty="0"/>
              <a:t>, </a:t>
            </a:r>
            <a:r>
              <a:rPr lang="ru-RU" dirty="0" err="1"/>
              <a:t>Safari</a:t>
            </a:r>
            <a:endParaRPr lang="ru-RU" dirty="0"/>
          </a:p>
          <a:p>
            <a:r>
              <a:rPr lang="ru-RU" b="1" dirty="0"/>
              <a:t>Устройства:</a:t>
            </a:r>
            <a:r>
              <a:rPr lang="ru-RU" dirty="0"/>
              <a:t> ПК, ноутбук, планшет, смартфон</a:t>
            </a:r>
          </a:p>
          <a:p>
            <a:r>
              <a:rPr lang="ru-RU" b="1" dirty="0"/>
              <a:t>Разрешения экрана:</a:t>
            </a:r>
            <a:r>
              <a:rPr lang="ru-RU" dirty="0"/>
              <a:t> 1920x1080, 1366x768, 1024x768, 800x600, 375x667</a:t>
            </a:r>
          </a:p>
          <a:p>
            <a:r>
              <a:rPr lang="ru-RU" b="1" dirty="0"/>
              <a:t>Тест-кейсы:</a:t>
            </a:r>
            <a:r>
              <a:rPr lang="ru-RU" dirty="0"/>
              <a:t> 50 функциональных и регрессионных тест-кейсов для тестирования веб-приложения (</a:t>
            </a:r>
            <a:r>
              <a:rPr lang="ru-RU" dirty="0" err="1"/>
              <a:t>TestRail</a:t>
            </a:r>
            <a:r>
              <a:rPr lang="ru-RU" dirty="0"/>
              <a:t>, </a:t>
            </a:r>
            <a:r>
              <a:rPr lang="ru-RU" dirty="0" err="1"/>
              <a:t>suite</a:t>
            </a:r>
            <a:r>
              <a:rPr lang="ru-RU" dirty="0"/>
              <a:t> «</a:t>
            </a:r>
            <a:r>
              <a:rPr lang="ru-RU" dirty="0" err="1"/>
              <a:t>Figma</a:t>
            </a:r>
            <a:r>
              <a:rPr lang="ru-RU" dirty="0"/>
              <a:t> </a:t>
            </a:r>
            <a:r>
              <a:rPr lang="ru-RU" dirty="0" err="1"/>
              <a:t>Web</a:t>
            </a:r>
            <a:r>
              <a:rPr lang="ru-RU" dirty="0"/>
              <a:t> </a:t>
            </a:r>
            <a:r>
              <a:rPr lang="ru-RU" dirty="0" err="1"/>
              <a:t>Regression</a:t>
            </a:r>
            <a:r>
              <a:rPr lang="ru-RU" dirty="0"/>
              <a:t> 2026.09»)</a:t>
            </a:r>
          </a:p>
          <a:p>
            <a:r>
              <a:rPr lang="ru-RU" b="1" dirty="0"/>
              <a:t>Баг-</a:t>
            </a:r>
            <a:r>
              <a:rPr lang="ru-RU" b="1" dirty="0" err="1"/>
              <a:t>трекер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ru-RU" dirty="0" err="1"/>
              <a:t>Jira</a:t>
            </a:r>
            <a:r>
              <a:rPr lang="ru-RU" dirty="0"/>
              <a:t> (проект FIG)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47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590961"/>
              </p:ext>
            </p:extLst>
          </p:nvPr>
        </p:nvGraphicFramePr>
        <p:xfrm>
          <a:off x="838200" y="1046749"/>
          <a:ext cx="10515600" cy="49662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99462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43830309"/>
                    </a:ext>
                  </a:extLst>
                </a:gridCol>
              </a:tblGrid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 dirty="0">
                          <a:effectLst/>
                        </a:rPr>
                        <a:t>Критерий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>
                          <a:effectLst/>
                        </a:rPr>
                        <a:t>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272918"/>
                  </a:ext>
                </a:extLst>
              </a:tr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 dirty="0">
                          <a:effectLst/>
                        </a:rPr>
                        <a:t>Общее количество тест-кейсов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892053"/>
                  </a:ext>
                </a:extLst>
              </a:tr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>
                          <a:effectLst/>
                        </a:rPr>
                        <a:t>Пройденные тест-кейсы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22862"/>
                  </a:ext>
                </a:extLst>
              </a:tr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>
                          <a:effectLst/>
                        </a:rPr>
                        <a:t>Не пройденные тест-кейсы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064702"/>
                  </a:ext>
                </a:extLst>
              </a:tr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>
                          <a:effectLst/>
                        </a:rPr>
                        <a:t>Пропущенные тест-кейсы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528899"/>
                  </a:ext>
                </a:extLst>
              </a:tr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>
                          <a:effectLst/>
                        </a:rPr>
                        <a:t>Заблокированные тест-кейсы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404626"/>
                  </a:ext>
                </a:extLst>
              </a:tr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>
                          <a:effectLst/>
                        </a:rPr>
                        <a:t>Общее количество дефектов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4450617"/>
                  </a:ext>
                </a:extLst>
              </a:tr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>
                          <a:effectLst/>
                        </a:rPr>
                        <a:t>Критические дефекты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9638614"/>
                  </a:ext>
                </a:extLst>
              </a:tr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>
                          <a:effectLst/>
                        </a:rPr>
                        <a:t>Высокоприоритетные дефекты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2126403"/>
                  </a:ext>
                </a:extLst>
              </a:tr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>
                          <a:effectLst/>
                        </a:rPr>
                        <a:t>Среднеприоритетные дефекты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703802"/>
                  </a:ext>
                </a:extLst>
              </a:tr>
              <a:tr h="451475">
                <a:tc>
                  <a:txBody>
                    <a:bodyPr/>
                    <a:lstStyle/>
                    <a:p>
                      <a:pPr algn="l" rtl="0"/>
                      <a:r>
                        <a:rPr lang="ru-RU">
                          <a:effectLst/>
                        </a:rPr>
                        <a:t>Низкоприоритетные дефекты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333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481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2165557"/>
              </p:ext>
            </p:extLst>
          </p:nvPr>
        </p:nvGraphicFramePr>
        <p:xfrm>
          <a:off x="2640928" y="517355"/>
          <a:ext cx="6924176" cy="6178218"/>
        </p:xfrm>
        <a:graphic>
          <a:graphicData uri="http://schemas.openxmlformats.org/drawingml/2006/table">
            <a:tbl>
              <a:tblPr/>
              <a:tblGrid>
                <a:gridCol w="1731044">
                  <a:extLst>
                    <a:ext uri="{9D8B030D-6E8A-4147-A177-3AD203B41FA5}">
                      <a16:colId xmlns:a16="http://schemas.microsoft.com/office/drawing/2014/main" val="8336354"/>
                    </a:ext>
                  </a:extLst>
                </a:gridCol>
                <a:gridCol w="1731044">
                  <a:extLst>
                    <a:ext uri="{9D8B030D-6E8A-4147-A177-3AD203B41FA5}">
                      <a16:colId xmlns:a16="http://schemas.microsoft.com/office/drawing/2014/main" val="3054507456"/>
                    </a:ext>
                  </a:extLst>
                </a:gridCol>
                <a:gridCol w="1731044">
                  <a:extLst>
                    <a:ext uri="{9D8B030D-6E8A-4147-A177-3AD203B41FA5}">
                      <a16:colId xmlns:a16="http://schemas.microsoft.com/office/drawing/2014/main" val="357387415"/>
                    </a:ext>
                  </a:extLst>
                </a:gridCol>
                <a:gridCol w="1731044">
                  <a:extLst>
                    <a:ext uri="{9D8B030D-6E8A-4147-A177-3AD203B41FA5}">
                      <a16:colId xmlns:a16="http://schemas.microsoft.com/office/drawing/2014/main" val="2783401804"/>
                    </a:ext>
                  </a:extLst>
                </a:gridCol>
              </a:tblGrid>
              <a:tr h="268618">
                <a:tc>
                  <a:txBody>
                    <a:bodyPr/>
                    <a:lstStyle/>
                    <a:p>
                      <a:pPr algn="l" rtl="0"/>
                      <a:r>
                        <a:rPr lang="en-US" sz="900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solidFill>
                            <a:schemeClr val="bg1"/>
                          </a:solidFill>
                          <a:effectLst/>
                        </a:rPr>
                        <a:t>Тест-кейс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solidFill>
                            <a:schemeClr val="bg1"/>
                          </a:solidFill>
                          <a:effectLst/>
                        </a:rPr>
                        <a:t>Статус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 dirty="0">
                          <a:solidFill>
                            <a:schemeClr val="bg1"/>
                          </a:solidFill>
                          <a:effectLst/>
                        </a:rPr>
                        <a:t>Связанный дефект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654118"/>
                  </a:ext>
                </a:extLst>
              </a:tr>
              <a:tr h="470082">
                <a:tc>
                  <a:txBody>
                    <a:bodyPr/>
                    <a:lstStyle/>
                    <a:p>
                      <a:pPr algn="l" rtl="0"/>
                      <a:r>
                        <a:rPr lang="en-US" sz="900" dirty="0">
                          <a:effectLst/>
                        </a:rPr>
                        <a:t>TC-004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 dirty="0">
                          <a:effectLst/>
                        </a:rPr>
                        <a:t>Вход в систему по e-</a:t>
                      </a:r>
                      <a:r>
                        <a:rPr lang="ru-RU" sz="900" dirty="0" err="1">
                          <a:effectLst/>
                        </a:rPr>
                        <a:t>mail</a:t>
                      </a:r>
                      <a:r>
                        <a:rPr lang="ru-RU" sz="900" dirty="0">
                          <a:effectLst/>
                        </a:rPr>
                        <a:t> и паролю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Passed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dirty="0">
                          <a:effectLst/>
                        </a:rPr>
                        <a:t>—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643380"/>
                  </a:ext>
                </a:extLst>
              </a:tr>
              <a:tr h="470082">
                <a:tc>
                  <a:txBody>
                    <a:bodyPr/>
                    <a:lstStyle/>
                    <a:p>
                      <a:pPr algn="l" rtl="0"/>
                      <a:r>
                        <a:rPr lang="en-US" sz="900" dirty="0">
                          <a:effectLst/>
                        </a:rPr>
                        <a:t>TC-012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effectLst/>
                        </a:rPr>
                        <a:t>Создание нового файла из шаблона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Passed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dirty="0">
                          <a:effectLst/>
                        </a:rPr>
                        <a:t>—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621791"/>
                  </a:ext>
                </a:extLst>
              </a:tr>
              <a:tr h="873009"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TC-017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effectLst/>
                        </a:rPr>
                        <a:t>Редактирование текстового слоя с межстрочным интервалом 150 %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Failed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 dirty="0">
                          <a:effectLst/>
                        </a:rPr>
                        <a:t>FIG-02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903581"/>
                  </a:ext>
                </a:extLst>
              </a:tr>
              <a:tr h="671545"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TC-023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effectLst/>
                        </a:rPr>
                        <a:t>Автосохранение и история версий при потере соединения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Failed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 dirty="0">
                          <a:effectLst/>
                        </a:rPr>
                        <a:t>FIG-01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02251"/>
                  </a:ext>
                </a:extLst>
              </a:tr>
              <a:tr h="470082"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TC-027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effectLst/>
                        </a:rPr>
                        <a:t>Экспорт выделенной области в PNG и PDF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Passed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dirty="0">
                          <a:effectLst/>
                        </a:rPr>
                        <a:t>—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438093"/>
                  </a:ext>
                </a:extLst>
              </a:tr>
              <a:tr h="873009"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TC-031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effectLst/>
                        </a:rPr>
                        <a:t>Доступ к файлу по ссылке «только просмотр» и копирование ссылки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Failed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 dirty="0">
                          <a:effectLst/>
                        </a:rPr>
                        <a:t>FIG-03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07702"/>
                  </a:ext>
                </a:extLst>
              </a:tr>
              <a:tr h="470082"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TC-035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effectLst/>
                        </a:rPr>
                        <a:t>Добавление, ответ и решение комментария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Passed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dirty="0">
                          <a:effectLst/>
                        </a:rPr>
                        <a:t>—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149169"/>
                  </a:ext>
                </a:extLst>
              </a:tr>
              <a:tr h="671545"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TC-041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effectLst/>
                        </a:rPr>
                        <a:t>Отображение интерфейса редактора при 800x600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Failed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 dirty="0">
                          <a:effectLst/>
                        </a:rPr>
                        <a:t>FIG-04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313915"/>
                  </a:ext>
                </a:extLst>
              </a:tr>
              <a:tr h="470082"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TC-045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CC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effectLst/>
                        </a:rPr>
                        <a:t>Вход через </a:t>
                      </a:r>
                      <a:r>
                        <a:rPr lang="en-US" sz="900">
                          <a:effectLst/>
                        </a:rPr>
                        <a:t>Google OAuth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CC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Skipped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 dirty="0">
                          <a:effectLst/>
                        </a:rPr>
                        <a:t>на стенде отключён </a:t>
                      </a:r>
                      <a:r>
                        <a:rPr lang="en-US" sz="900" dirty="0">
                          <a:effectLst/>
                        </a:rPr>
                        <a:t>OAuth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91597"/>
                  </a:ext>
                </a:extLst>
              </a:tr>
              <a:tr h="470082"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TC-048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88CC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CC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CC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>
                          <a:effectLst/>
                        </a:rPr>
                        <a:t>Оплата подписки тестовой картой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88CC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CC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900">
                          <a:effectLst/>
                        </a:rPr>
                        <a:t>Skipped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089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900" dirty="0">
                          <a:effectLst/>
                        </a:rPr>
                        <a:t>не выданы тестовые платёжные данные</a:t>
                      </a:r>
                    </a:p>
                  </a:txBody>
                  <a:tcPr marL="47297" marR="47297" marT="23649" marB="23649" anchor="ctr">
                    <a:lnL w="12700" cap="flat" cmpd="sng" algn="ctr">
                      <a:solidFill>
                        <a:srgbClr val="E89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172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47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/>
              <a:t>FIG-01: Потеря офлайн-изменений при восстановлении сетевого соединения после сбоя </a:t>
            </a:r>
            <a:r>
              <a:rPr lang="ru-RU" b="1" dirty="0" err="1"/>
              <a:t>автосохранения</a:t>
            </a:r>
            <a:endParaRPr lang="ru-RU" dirty="0"/>
          </a:p>
          <a:p>
            <a:r>
              <a:rPr lang="ru-RU" dirty="0"/>
              <a:t>Приоритет: Высокий</a:t>
            </a:r>
          </a:p>
          <a:p>
            <a:r>
              <a:rPr lang="ru-RU" dirty="0"/>
              <a:t>Критичность: Критическая</a:t>
            </a:r>
          </a:p>
          <a:p>
            <a:r>
              <a:rPr lang="ru-RU" dirty="0"/>
              <a:t>Шаги воспроизведения:</a:t>
            </a:r>
          </a:p>
          <a:p>
            <a:pPr lvl="1"/>
            <a:r>
              <a:rPr lang="ru-RU" dirty="0"/>
              <a:t>Открыть файл «</a:t>
            </a:r>
            <a:r>
              <a:rPr lang="ru-RU" dirty="0" err="1"/>
              <a:t>Homepage</a:t>
            </a:r>
            <a:r>
              <a:rPr lang="ru-RU" dirty="0"/>
              <a:t> v2» в редакторе </a:t>
            </a:r>
            <a:r>
              <a:rPr lang="ru-RU" dirty="0" err="1"/>
              <a:t>Figma</a:t>
            </a:r>
            <a:r>
              <a:rPr lang="ru-RU" dirty="0"/>
              <a:t> в браузере </a:t>
            </a:r>
            <a:r>
              <a:rPr lang="ru-RU" dirty="0" err="1"/>
              <a:t>Google</a:t>
            </a:r>
            <a:r>
              <a:rPr lang="ru-RU" dirty="0"/>
              <a:t> </a:t>
            </a:r>
            <a:r>
              <a:rPr lang="ru-RU" dirty="0" err="1"/>
              <a:t>Chrome</a:t>
            </a:r>
            <a:r>
              <a:rPr lang="ru-RU" dirty="0"/>
              <a:t> на ПК с разрешением экрана 1920x1080</a:t>
            </a:r>
          </a:p>
          <a:p>
            <a:pPr lvl="1"/>
            <a:r>
              <a:rPr lang="ru-RU" dirty="0"/>
              <a:t>Внести изменения: переместить 3 слоя</a:t>
            </a:r>
          </a:p>
          <a:p>
            <a:pPr lvl="1"/>
            <a:r>
              <a:rPr lang="ru-RU" dirty="0"/>
              <a:t>Разорвать сетевое соединение на 3 минуты (</a:t>
            </a:r>
            <a:r>
              <a:rPr lang="ru-RU" dirty="0" err="1"/>
              <a:t>DevTools</a:t>
            </a:r>
            <a:r>
              <a:rPr lang="ru-RU" dirty="0"/>
              <a:t> → </a:t>
            </a:r>
            <a:r>
              <a:rPr lang="ru-RU" dirty="0" err="1"/>
              <a:t>Offline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Продолжить редактирование файла в офлайн-режиме</a:t>
            </a:r>
          </a:p>
          <a:p>
            <a:pPr lvl="1"/>
            <a:r>
              <a:rPr lang="ru-RU" dirty="0"/>
              <a:t>Восстановить соединение и перезагрузить страницу</a:t>
            </a:r>
          </a:p>
          <a:p>
            <a:r>
              <a:rPr lang="ru-RU" dirty="0"/>
              <a:t>Ожидаемый результат: Изменения, внесённые офлайн, синхронизируются с сервером после </a:t>
            </a:r>
            <a:r>
              <a:rPr lang="ru-RU" dirty="0" err="1"/>
              <a:t>переподключения</a:t>
            </a:r>
            <a:r>
              <a:rPr lang="ru-RU" dirty="0"/>
              <a:t>, отображается уведомление «Сохранено», восстановленная версия доступна в истории версий</a:t>
            </a:r>
          </a:p>
          <a:p>
            <a:r>
              <a:rPr lang="ru-RU" dirty="0"/>
              <a:t>Фактический результат: Изменения, внесённые офлайн, теряются без уведомления, в истории версий отсутствуют</a:t>
            </a:r>
          </a:p>
          <a:p>
            <a:r>
              <a:rPr lang="ru-RU" dirty="0"/>
              <a:t>Скриншот:</a:t>
            </a:r>
          </a:p>
          <a:p>
            <a:r>
              <a:rPr lang="ru-RU" dirty="0"/>
              <a:t>[FIG-01]</a:t>
            </a:r>
          </a:p>
          <a:p>
            <a:r>
              <a:rPr lang="ru-RU" dirty="0"/>
              <a:t>Статус: Закрытый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339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FIG-02: Смещение позиции текстового курсора при редактировании блока с межстрочным интервалом 150 % в </a:t>
            </a:r>
            <a:r>
              <a:rPr lang="ru-RU" b="1" dirty="0" err="1"/>
              <a:t>Safari</a:t>
            </a:r>
            <a:endParaRPr lang="ru-RU" dirty="0"/>
          </a:p>
          <a:p>
            <a:r>
              <a:rPr lang="ru-RU" dirty="0"/>
              <a:t>Приоритет: Высокий</a:t>
            </a:r>
          </a:p>
          <a:p>
            <a:r>
              <a:rPr lang="ru-RU" dirty="0"/>
              <a:t>Критичность: Высокая</a:t>
            </a:r>
          </a:p>
          <a:p>
            <a:r>
              <a:rPr lang="ru-RU" dirty="0"/>
              <a:t>Шаги воспроизведения:</a:t>
            </a:r>
          </a:p>
          <a:p>
            <a:pPr lvl="1"/>
            <a:r>
              <a:rPr lang="ru-RU" dirty="0"/>
              <a:t>Открыть файл </a:t>
            </a:r>
            <a:r>
              <a:rPr lang="ru-RU" dirty="0" err="1"/>
              <a:t>Figma</a:t>
            </a:r>
            <a:r>
              <a:rPr lang="ru-RU" dirty="0"/>
              <a:t> с текстовым слоем в браузере </a:t>
            </a:r>
            <a:r>
              <a:rPr lang="ru-RU" dirty="0" err="1"/>
              <a:t>Safari</a:t>
            </a:r>
            <a:r>
              <a:rPr lang="ru-RU" dirty="0"/>
              <a:t> на ноутбуке с разрешением экрана 1366x768</a:t>
            </a:r>
          </a:p>
          <a:p>
            <a:pPr lvl="1"/>
            <a:r>
              <a:rPr lang="ru-RU" dirty="0"/>
              <a:t>Выделить текстовый слой и задать в панели свойств межстрочный интервал (</a:t>
            </a:r>
            <a:r>
              <a:rPr lang="ru-RU" dirty="0" err="1"/>
              <a:t>line</a:t>
            </a:r>
            <a:r>
              <a:rPr lang="ru-RU" dirty="0"/>
              <a:t> </a:t>
            </a:r>
            <a:r>
              <a:rPr lang="ru-RU" dirty="0" err="1"/>
              <a:t>height</a:t>
            </a:r>
            <a:r>
              <a:rPr lang="ru-RU" dirty="0"/>
              <a:t>) 150 %</a:t>
            </a:r>
          </a:p>
          <a:p>
            <a:pPr lvl="1"/>
            <a:r>
              <a:rPr lang="ru-RU" dirty="0"/>
              <a:t>Войти в режим редактирования текста двойным кликом</a:t>
            </a:r>
          </a:p>
          <a:p>
            <a:pPr lvl="1"/>
            <a:r>
              <a:rPr lang="ru-RU" dirty="0"/>
              <a:t>Установить курсор в конец третьей строки</a:t>
            </a:r>
          </a:p>
          <a:p>
            <a:r>
              <a:rPr lang="ru-RU" dirty="0"/>
              <a:t>Ожидаемый результат: Курсор устанавливается в точке клика (конец третьей строки), ввод текста происходит в этой строке</a:t>
            </a:r>
          </a:p>
          <a:p>
            <a:r>
              <a:rPr lang="ru-RU" dirty="0"/>
              <a:t>Фактический результат: Курсор смещается на 1–2 строки вверх, ввод текста происходит не в той строке</a:t>
            </a:r>
          </a:p>
          <a:p>
            <a:r>
              <a:rPr lang="ru-RU" dirty="0"/>
              <a:t>Скриншот:</a:t>
            </a:r>
          </a:p>
          <a:p>
            <a:r>
              <a:rPr lang="ru-RU" dirty="0"/>
              <a:t>[FIG-02]</a:t>
            </a:r>
          </a:p>
          <a:p>
            <a:r>
              <a:rPr lang="ru-RU" dirty="0"/>
              <a:t>Статус: В работе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010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FIG-03: Не открывается панель «Поделиться» на смартфоне при открытом по общей ссылке файле</a:t>
            </a:r>
            <a:endParaRPr lang="ru-RU" dirty="0"/>
          </a:p>
          <a:p>
            <a:r>
              <a:rPr lang="ru-RU" dirty="0"/>
              <a:t>Приоритет: Средний</a:t>
            </a:r>
          </a:p>
          <a:p>
            <a:r>
              <a:rPr lang="ru-RU" dirty="0"/>
              <a:t>Критичность: Высокая</a:t>
            </a:r>
          </a:p>
          <a:p>
            <a:r>
              <a:rPr lang="ru-RU" dirty="0"/>
              <a:t>Шаги воспроизведения:</a:t>
            </a:r>
          </a:p>
          <a:p>
            <a:pPr lvl="1"/>
            <a:r>
              <a:rPr lang="ru-RU" dirty="0"/>
              <a:t>Открыть общую ссылку на файл с правами «только просмотр» в браузере </a:t>
            </a:r>
            <a:r>
              <a:rPr lang="ru-RU" dirty="0" err="1"/>
              <a:t>Safari</a:t>
            </a:r>
            <a:r>
              <a:rPr lang="ru-RU" dirty="0"/>
              <a:t> на смартфоне </a:t>
            </a:r>
            <a:r>
              <a:rPr lang="ru-RU" dirty="0" err="1"/>
              <a:t>iPhone</a:t>
            </a:r>
            <a:r>
              <a:rPr lang="ru-RU" dirty="0"/>
              <a:t> 15 с разрешением экрана 375x667</a:t>
            </a:r>
          </a:p>
          <a:p>
            <a:pPr lvl="1"/>
            <a:r>
              <a:rPr lang="ru-RU" dirty="0"/>
              <a:t>Нажать кнопку «Поделиться» в верхней панели</a:t>
            </a:r>
          </a:p>
          <a:p>
            <a:pPr lvl="1"/>
            <a:r>
              <a:rPr lang="ru-RU" dirty="0"/>
              <a:t>В открывшейся панели нажать «Копировать ссылку»</a:t>
            </a:r>
          </a:p>
          <a:p>
            <a:r>
              <a:rPr lang="ru-RU" dirty="0"/>
              <a:t>Ожидаемый результат: Открывается панель поделиться, ссылка копируется в буфер обмена с отображением тост-уведомления</a:t>
            </a:r>
          </a:p>
          <a:p>
            <a:r>
              <a:rPr lang="ru-RU" dirty="0"/>
              <a:t>Фактический результат: Нажатие на кнопку «Поделиться» не даёт никакой реакции, панель не открывается</a:t>
            </a:r>
          </a:p>
          <a:p>
            <a:r>
              <a:rPr lang="ru-RU" dirty="0"/>
              <a:t>Скриншот:</a:t>
            </a:r>
          </a:p>
          <a:p>
            <a:r>
              <a:rPr lang="ru-RU" dirty="0"/>
              <a:t>[FIG-03]</a:t>
            </a:r>
          </a:p>
          <a:p>
            <a:r>
              <a:rPr lang="ru-RU" dirty="0"/>
              <a:t>Статус: Закрытый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2628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874295" y="1169904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Заключение</a:t>
            </a:r>
          </a:p>
          <a:p>
            <a:r>
              <a:rPr lang="ru-RU" b="1" dirty="0"/>
              <a:t>Оценка качества продукта:</a:t>
            </a:r>
            <a:r>
              <a:rPr lang="ru-RU" dirty="0"/>
              <a:t> приложение соответствует основным функциональным требованиям — пройдено 44 из 50 тест-кейсов (88 %). Ключевые модули (авторизация, редактор, экспорт, предоставление доступа) работают стабильно в </a:t>
            </a:r>
            <a:r>
              <a:rPr lang="ru-RU" dirty="0" err="1"/>
              <a:t>Chrome</a:t>
            </a:r>
            <a:r>
              <a:rPr lang="ru-RU" dirty="0"/>
              <a:t>, </a:t>
            </a:r>
            <a:r>
              <a:rPr lang="ru-RU" dirty="0" err="1"/>
              <a:t>Edge</a:t>
            </a:r>
            <a:r>
              <a:rPr lang="ru-RU" dirty="0"/>
              <a:t> и </a:t>
            </a:r>
            <a:r>
              <a:rPr lang="ru-RU" dirty="0" err="1"/>
              <a:t>Firefox</a:t>
            </a:r>
            <a:r>
              <a:rPr lang="ru-RU" dirty="0"/>
              <a:t>. Критический дефект FIG-01 устранён и проверен.</a:t>
            </a:r>
          </a:p>
          <a:p>
            <a:r>
              <a:rPr lang="ru-RU" b="1" dirty="0"/>
              <a:t>Риски при выпуске версии:</a:t>
            </a:r>
            <a:r>
              <a:rPr lang="ru-RU" dirty="0"/>
              <a:t> открытый дефект FIG-02 (высокая критичность) затрагивает редактирование текста в </a:t>
            </a:r>
            <a:r>
              <a:rPr lang="ru-RU" dirty="0" err="1"/>
              <a:t>Safari</a:t>
            </a:r>
            <a:r>
              <a:rPr lang="ru-RU" dirty="0"/>
              <a:t> — возможны жалобы пользователей; обходной путь: редактирование с межстрочным интервалом 100 % или работа в </a:t>
            </a:r>
            <a:r>
              <a:rPr lang="ru-RU" dirty="0" err="1"/>
              <a:t>Chrome</a:t>
            </a:r>
            <a:r>
              <a:rPr lang="ru-RU" dirty="0"/>
              <a:t>. Дефект FIG-05 носит косметический характер и на функциональность не влияет.</a:t>
            </a:r>
          </a:p>
          <a:p>
            <a:r>
              <a:rPr lang="ru-RU" b="1" dirty="0"/>
              <a:t>Рекомендации по улучшению процесса тестирования:</a:t>
            </a:r>
            <a:r>
              <a:rPr lang="ru-RU" dirty="0"/>
              <a:t> добавить тест-кейсы по офлайн-режиму и нестабильной сети (пробел покрытия, выявленный FIG-01); автоматизировать </a:t>
            </a:r>
            <a:r>
              <a:rPr lang="ru-RU" dirty="0" err="1"/>
              <a:t>smoke-регессию</a:t>
            </a:r>
            <a:r>
              <a:rPr lang="ru-RU" dirty="0"/>
              <a:t> модуля «Редактор» (15 TC); выполнить пропущенные TC-045 и TC-048 после включения </a:t>
            </a:r>
            <a:r>
              <a:rPr lang="ru-RU" dirty="0" err="1"/>
              <a:t>OAuth</a:t>
            </a:r>
            <a:r>
              <a:rPr lang="ru-RU" dirty="0"/>
              <a:t> и выдачи тестовых платёжных данных на стенде.</a:t>
            </a:r>
          </a:p>
          <a:p>
            <a:r>
              <a:rPr lang="ru-RU" b="1" dirty="0"/>
              <a:t>Общий вывод:</a:t>
            </a:r>
            <a:r>
              <a:rPr lang="ru-RU" dirty="0"/>
              <a:t> качество продукта оценивается как приемлемое с оговоркой; выпуск версии v124.0.3 в </a:t>
            </a:r>
            <a:r>
              <a:rPr lang="ru-RU" dirty="0" err="1"/>
              <a:t>production</a:t>
            </a:r>
            <a:r>
              <a:rPr lang="ru-RU" dirty="0"/>
              <a:t> рекомендуется после исправления и верификации дефекта FIG-02, дефект FIG-05 перенести в следующий спринт.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47098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818</Words>
  <Application>Microsoft Office PowerPoint</Application>
  <PresentationFormat>Широкоэкранный</PresentationFormat>
  <Paragraphs>126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Отчёт по ручному тестированию веб-приложения Figma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Ручное тестирование</dc:title>
  <dc:creator>Гулямов Гайрат</dc:creator>
  <cp:lastModifiedBy>666</cp:lastModifiedBy>
  <cp:revision>5</cp:revision>
  <dcterms:created xsi:type="dcterms:W3CDTF">2023-09-17T21:40:19Z</dcterms:created>
  <dcterms:modified xsi:type="dcterms:W3CDTF">2026-09-17T18:19:41Z</dcterms:modified>
</cp:coreProperties>
</file>